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60"/>
  </p:normalViewPr>
  <p:slideViewPr>
    <p:cSldViewPr snapToGrid="0">
      <p:cViewPr varScale="1">
        <p:scale>
          <a:sx n="95" d="100"/>
          <a:sy n="95" d="100"/>
        </p:scale>
        <p:origin x="72"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AF0C37-0B44-421E-B0C1-6D601ABFAB4A}"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CEF2C-B5C8-49EC-9686-91634FEE4A9F}" type="slidenum">
              <a:rPr lang="en-US" smtClean="0"/>
              <a:t>‹#›</a:t>
            </a:fld>
            <a:endParaRPr lang="en-US"/>
          </a:p>
        </p:txBody>
      </p:sp>
    </p:spTree>
    <p:extLst>
      <p:ext uri="{BB962C8B-B14F-4D97-AF65-F5344CB8AC3E}">
        <p14:creationId xmlns:p14="http://schemas.microsoft.com/office/powerpoint/2010/main" val="280695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6CEF2C-B5C8-49EC-9686-91634FEE4A9F}" type="slidenum">
              <a:rPr lang="en-US" smtClean="0"/>
              <a:t>3</a:t>
            </a:fld>
            <a:endParaRPr lang="en-US"/>
          </a:p>
        </p:txBody>
      </p:sp>
    </p:spTree>
    <p:extLst>
      <p:ext uri="{BB962C8B-B14F-4D97-AF65-F5344CB8AC3E}">
        <p14:creationId xmlns:p14="http://schemas.microsoft.com/office/powerpoint/2010/main" val="388342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F623392-4F85-4B8F-8312-CFEDB057A3BD}"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314699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623392-4F85-4B8F-8312-CFEDB057A3BD}"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2949609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F623392-4F85-4B8F-8312-CFEDB057A3BD}"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2249734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F623392-4F85-4B8F-8312-CFEDB057A3BD}"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190759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F623392-4F85-4B8F-8312-CFEDB057A3BD}"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2040787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F623392-4F85-4B8F-8312-CFEDB057A3BD}"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1609811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623392-4F85-4B8F-8312-CFEDB057A3BD}"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4118178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623392-4F85-4B8F-8312-CFEDB057A3BD}"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3664684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F623392-4F85-4B8F-8312-CFEDB057A3BD}"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267609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623392-4F85-4B8F-8312-CFEDB057A3BD}"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3939515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F623392-4F85-4B8F-8312-CFEDB057A3BD}"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5EBF3-CBA5-4AC4-A8B6-52915B2314D9}" type="slidenum">
              <a:rPr lang="en-US" smtClean="0"/>
              <a:t>‹#›</a:t>
            </a:fld>
            <a:endParaRPr lang="en-US"/>
          </a:p>
        </p:txBody>
      </p:sp>
    </p:spTree>
    <p:extLst>
      <p:ext uri="{BB962C8B-B14F-4D97-AF65-F5344CB8AC3E}">
        <p14:creationId xmlns:p14="http://schemas.microsoft.com/office/powerpoint/2010/main" val="196378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623392-4F85-4B8F-8312-CFEDB057A3BD}" type="datetimeFigureOut">
              <a:rPr lang="en-US" smtClean="0"/>
              <a:t>9/14/2026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95EBF3-CBA5-4AC4-A8B6-52915B2314D9}" type="slidenum">
              <a:rPr lang="en-US" smtClean="0"/>
              <a:t>‹#›</a:t>
            </a:fld>
            <a:endParaRPr lang="en-US"/>
          </a:p>
        </p:txBody>
      </p:sp>
    </p:spTree>
    <p:extLst>
      <p:ext uri="{BB962C8B-B14F-4D97-AF65-F5344CB8AC3E}">
        <p14:creationId xmlns:p14="http://schemas.microsoft.com/office/powerpoint/2010/main" val="3808939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60351"/>
            <a:ext cx="9144000" cy="2387600"/>
          </a:xfrm>
        </p:spPr>
        <p:txBody>
          <a:bodyPr>
            <a:normAutofit fontScale="90000"/>
          </a:bodyPr>
          <a:lstStyle/>
          <a:p>
            <a: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RETAIL BANKING CUSTOMER SEGMENTATION</a:t>
            </a:r>
            <a:endPar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US" sz="2800" b="1" dirty="0" smtClean="0">
                <a:latin typeface="Times New Roman" panose="02020603050405020304" pitchFamily="18" charset="0"/>
                <a:cs typeface="Times New Roman" panose="02020603050405020304" pitchFamily="18" charset="0"/>
              </a:rPr>
              <a:t>Behavioral Modeling &amp; Strategic Profiling Across 200,000 Retail Accounts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2964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4378"/>
            <a:ext cx="11733196" cy="1751797"/>
          </a:xfrm>
        </p:spPr>
        <p:style>
          <a:lnRef idx="2">
            <a:schemeClr val="accent3"/>
          </a:lnRef>
          <a:fillRef idx="1">
            <a:schemeClr val="lt1"/>
          </a:fillRef>
          <a:effectRef idx="0">
            <a:schemeClr val="accent3"/>
          </a:effectRef>
          <a:fontRef idx="minor">
            <a:schemeClr val="dk1"/>
          </a:fontRef>
        </p:style>
        <p:txBody>
          <a:bodyPr>
            <a:normAutofit fontScale="90000"/>
          </a:bodyPr>
          <a:lstStyle/>
          <a:p>
            <a:pPr algn="ctr"/>
            <a:r>
              <a:rPr lang="en-US"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Executive Summary &amp; Project Overview</a:t>
            </a:r>
            <a: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r>
            <a:br>
              <a:rPr lang="en-US"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r>
              <a:rPr lang="en-US"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en-US" sz="3600" dirty="0" smtClean="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Translating K-Means Cluster Centroids into Actionable Business Intelligence </a:t>
            </a:r>
            <a:endParaRPr lang="en-US"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1"/>
          <p:cNvSpPr>
            <a:spLocks noGrp="1" noChangeArrowheads="1"/>
          </p:cNvSpPr>
          <p:nvPr>
            <p:ph idx="1"/>
          </p:nvPr>
        </p:nvSpPr>
        <p:spPr bwMode="auto">
          <a:xfrm>
            <a:off x="0" y="2285440"/>
            <a:ext cx="11353800" cy="3431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Executive Summary</a:t>
            </a:r>
            <a:r>
              <a:rPr kumimoji="0" lang="en-US" sz="1800" b="1" i="0" u="none" strike="noStrike" cap="none" normalizeH="0" baseline="0" dirty="0" smtClean="0">
                <a:ln>
                  <a:noFill/>
                </a:ln>
                <a:solidFill>
                  <a:schemeClr val="tx1"/>
                </a:solidFill>
                <a:effectLst/>
                <a:latin typeface="Google Sans Text"/>
              </a:rPr>
              <a:t>:</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This report outlines the finalized business intelligence and operational roadmap derived from K-Means clustering (n=4) performed on the bank's 200,000-row retail dataset. By engineering behavioral and financial metrics (including channel adoption, transaction frequency, </a:t>
            </a:r>
            <a:r>
              <a:rPr kumimoji="0" 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and financial value) and scaling them to normalize </a:t>
            </a:r>
            <a:r>
              <a:rPr kumimoji="0" 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skewness</a:t>
            </a: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we successfully partitioned the customer base into four distinct behavioral archetypes.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Below is the detailed breakdown of each segment's size, quantitative characteristics, behavioral interpretation, and recommended business actions for presentation to the data science team and stakeholders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731144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 y="0"/>
            <a:ext cx="11896826" cy="1568918"/>
          </a:xfrm>
        </p:spPr>
        <p:txBody>
          <a:bodyPr>
            <a:normAutofit fontScale="90000"/>
          </a:bodyPr>
          <a:lstStyle/>
          <a:p>
            <a:pPr algn="r"/>
            <a: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Cluster 0: The Mass-Market / Low-Engagement Base  </a:t>
            </a:r>
            <a:b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endPar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idx="1"/>
          </p:nvPr>
        </p:nvSpPr>
        <p:spPr bwMode="auto">
          <a:xfrm>
            <a:off x="0" y="965018"/>
            <a:ext cx="121158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Segment Size:</a:t>
            </a:r>
            <a:r>
              <a:rPr kumimoji="0" 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57,959 customers (</a:t>
            </a: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28.98%</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the total customer 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Core Centroid Metrics: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Active Channels: 0.92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Financial Value: ~10,602,230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Days: 179.51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Frequency Score: 10.94 (30-day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Product Adoption Score: 25.53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Value Indicator: 164,503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32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Behavioral Interpretation &amp; Technical Profile</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This segment forms a massive, passive tier representing nearly a third of the bank's portfolio. While they maintain baseline accounts with moderate historical value, their day-to-day engagement is minimal. They hover around a single active channel (</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0.92), show low transaction velocity (10.94), and exhibit moderate </a:t>
            </a:r>
            <a:r>
              <a:rPr kumimoji="0" lang="en-US" sz="20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(~180 days). They are not actively churning, but they treat the bank as a passive or tertiary repository rather than an active financial partner.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Recommended Business Actions</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Automated Digital Nudges: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Deploy low-cost, automated push notifications and email campaigns showcasing mobile app features to drive channel migration.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Low-Friction Onboarding Products: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Introduce entry-level automated savings routines or micro-investing features with low entry barriers to spark initial transaction habits and increase product adoption.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6"/>
          <p:cNvSpPr/>
          <p:nvPr/>
        </p:nvSpPr>
        <p:spPr>
          <a:xfrm>
            <a:off x="5830542" y="2967335"/>
            <a:ext cx="530915" cy="923330"/>
          </a:xfrm>
          <a:prstGeom prst="rect">
            <a:avLst/>
          </a:prstGeom>
          <a:noFill/>
        </p:spPr>
        <p:txBody>
          <a:bodyPr wrap="none" lIns="91440" tIns="45720" rIns="91440" bIns="45720">
            <a:spAutoFit/>
          </a:bodyPr>
          <a:lstStyle/>
          <a:p>
            <a:pPr algn="ctr"/>
            <a:r>
              <a:rPr lang="en-US" sz="54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  </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41576392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 y="180975"/>
            <a:ext cx="11410950" cy="1418839"/>
          </a:xfrm>
        </p:spPr>
        <p:txBody>
          <a:bodyPr>
            <a:normAutofit fontScale="90000"/>
          </a:bodyPr>
          <a:lstStyle/>
          <a:p>
            <a:pPr algn="ctr"/>
            <a: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Cluster 1: The Digital &amp; Active Retail Tier</a:t>
            </a:r>
            <a: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r>
            <a:br>
              <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r>
              <a:rPr lang="en-US" sz="4000"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The Operational Lifeblood and Primary Core Engine (69.44%)</a:t>
            </a:r>
            <a:endParaRPr lang="en-US" sz="40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1"/>
          <p:cNvSpPr>
            <a:spLocks noGrp="1" noChangeArrowheads="1"/>
          </p:cNvSpPr>
          <p:nvPr>
            <p:ph idx="1"/>
          </p:nvPr>
        </p:nvSpPr>
        <p:spPr bwMode="auto">
          <a:xfrm>
            <a:off x="1" y="1599814"/>
            <a:ext cx="12020550" cy="5201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Segment Size: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138,884 customers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69.44%</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the total customer base — </a:t>
            </a:r>
            <a:r>
              <a:rPr kumimoji="0" lang="en-US" sz="1800" b="0" i="1"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the bank's primary core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Core Centroid Metrics: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Active Channels: 2.37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Financial Value: ~16,979,090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Days: 12.37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Frequency Score: 61.82 (30-day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Product Adoption Score: 70.09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Value Indicator: 2,249,940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Behavioral Interpretation &amp; Technical Profile: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Representing over two-thirds of all users, this is the operational lifeblood of the retail portfolio. These customers are digitally fluent, interact seamlessly across multiple channels (2.37), log high transaction volumes (61.82), and demonstrate strong product adoption (70.09) with very low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(~12 days). They generate steady transactional revenue and form the ideal target audience for scalable retail banking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Recommended Business Actions: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Targeted Cross-Selling:</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Seamlessly cross-sell digital-first credit solutions, instant overdrafts, and automated goal-based savings directly inside the mobile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Loyalty &amp; </a:t>
            </a:r>
            <a:r>
              <a:rPr kumimoji="0" lang="en-US" sz="18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Gamification</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Programs: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Implement app-based reward incentives, cash-back programs, and referral bonuses to lock in long-term brand retention and fend off digital-only competitors.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90702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982450" cy="1581151"/>
          </a:xfrm>
        </p:spPr>
        <p:txBody>
          <a:bodyPr>
            <a:normAutofit fontScale="90000"/>
          </a:bodyPr>
          <a:lstStyle/>
          <a:p>
            <a:pPr algn="ctr"/>
            <a: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Cluster 2: The Disengaged / At-Risk Tier</a:t>
            </a:r>
            <a:b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br>
            <a:r>
              <a:rPr lang="en-US" dirty="0" smtClean="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Mitigating Dormancy Risk and Protecting Legacy Capital (1.38%)</a:t>
            </a:r>
            <a:endParaRPr lang="en-US"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1"/>
          <p:cNvSpPr>
            <a:spLocks noGrp="1" noChangeArrowheads="1"/>
          </p:cNvSpPr>
          <p:nvPr>
            <p:ph idx="1"/>
          </p:nvPr>
        </p:nvSpPr>
        <p:spPr bwMode="auto">
          <a:xfrm>
            <a:off x="85725" y="1400583"/>
            <a:ext cx="12020549" cy="5181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Segment Size:</a:t>
            </a:r>
            <a:r>
              <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2,757 customers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1.38%</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the total customer 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Core Centroid Metrics: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Active Channels: 1.08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Financial Value: ~29,667,500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Days: 1,961.77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Frequency Score: 28.76 (30-day historical scale)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Product Adoption Score: 59.21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Value Indicator: 24,075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Behavioral Interpretation &amp; Technical Profile</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 critical risk segment. Despite holding substantial legacy financial holdings (~29.6M NGN average balance values), these customers have effectively abandoned active engagement, averaging over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5 years of transaction silence</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(1,961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days). Leaving this segment unattended risks permanent account closure, silent asset flight, or dormant account regulatory penalties.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Recommended Business Actions: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Proactive Win-Back Campaigns: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Execute specialized customer service outreach, offering fee waivers, personalized financial reviews, or high-yield term deposit incentives to re-attract their capital.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Attrition &amp; Root-Cause Diagnostics: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Investigate the historical drop-off points for this cohort to refine early-warning churn prediction models across other active segments.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86419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562100"/>
          </a:xfrm>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Cluster 3: The High-Net-Worth "Whale" Tier</a:t>
            </a:r>
            <a:br>
              <a:rPr lang="en-US" b="1" dirty="0" smtClean="0">
                <a:latin typeface="Times New Roman" panose="02020603050405020304" pitchFamily="18" charset="0"/>
                <a:cs typeface="Times New Roman" panose="02020603050405020304" pitchFamily="18" charset="0"/>
              </a:rPr>
            </a:br>
            <a:r>
              <a:rPr lang="en-US" b="1" dirty="0" smtClean="0">
                <a:latin typeface="Times New Roman" panose="02020603050405020304" pitchFamily="18" charset="0"/>
                <a:cs typeface="Times New Roman" panose="02020603050405020304" pitchFamily="18" charset="0"/>
              </a:rPr>
              <a:t>Maximizing Value for Elite Asset Drivers (0.20%)</a:t>
            </a:r>
            <a:endParaRPr lang="en-US" b="1"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0" y="1431360"/>
            <a:ext cx="12192000" cy="5139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Segment Size</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400 customers (</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0.20%</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 the total customer 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Core Centroid Metrics:</a:t>
            </a:r>
            <a:endPar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Active Channels: 2.29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Financial Value: ~1,597,975,000 NGN (~1.59 Billion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Days: 2.14 days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Frequency Score: 42.72 (30-day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Product Adoption Score: 73.33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Value Indicator: 640,314,400 NGN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Behavioral Interpretation &amp; Technical Profile</a:t>
            </a: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Though small in headcount, this elite micro-segment commands an overwhelming majority of the bank's asset value. They combine massive financial resources (~1.59B NGN value) with active platform usage (2.29 channels) and near-zero </a:t>
            </a:r>
            <a:r>
              <a:rPr kumimoji="0" lang="en-US" sz="1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recency</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(2.14 days). They are high-value revenue drivers who demand white-glove service and exclusive financial offerings rather than standard automated marketing.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20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Recommended Business Actions:</a:t>
            </a:r>
            <a:endParaRPr kumimoji="0" lang="en-US" sz="20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Dedicated Relationship Management:</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Assign specialized, high-touch relationship managers to provide personalized advisory and concierge-level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Exclusive Wealth Products:</a:t>
            </a:r>
            <a:r>
              <a:rPr kumimoji="0" 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Offer bespoke wealth management portfolios, tailored private banking credit lines, and premium investment opportunities to cement multi-generational institutional loyalty.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38458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873</Words>
  <Application>Microsoft Office PowerPoint</Application>
  <PresentationFormat>Widescreen</PresentationFormat>
  <Paragraphs>60</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Google Sans Text</vt:lpstr>
      <vt:lpstr>Times New Roman</vt:lpstr>
      <vt:lpstr>Office Theme</vt:lpstr>
      <vt:lpstr>RETAIL BANKING CUSTOMER SEGMENTATION</vt:lpstr>
      <vt:lpstr>          Executive Summary &amp; Project Overview        Translating K-Means Cluster Centroids into Actionable Business Intelligence </vt:lpstr>
      <vt:lpstr>Cluster 0: The Mass-Market / Low-Engagement Base   </vt:lpstr>
      <vt:lpstr>Cluster 1: The Digital &amp; Active Retail Tier The Operational Lifeblood and Primary Core Engine (69.44%)</vt:lpstr>
      <vt:lpstr>Cluster 2: The Disengaged / At-Risk Tier Mitigating Dormancy Risk and Protecting Legacy Capital (1.38%)</vt:lpstr>
      <vt:lpstr>Cluster 3: The High-Net-Worth "Whale" Tier Maximizing Value for Elite Asset Drivers (0.20%)</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BANKING CUSTOMER SEGMENTATION</dc:title>
  <dc:creator>Microsoft account</dc:creator>
  <cp:lastModifiedBy>Microsoft account</cp:lastModifiedBy>
  <cp:revision>7</cp:revision>
  <dcterms:created xsi:type="dcterms:W3CDTF">2026-09-10T18:39:16Z</dcterms:created>
  <dcterms:modified xsi:type="dcterms:W3CDTF">2026-09-14T09:40:48Z</dcterms:modified>
</cp:coreProperties>
</file>